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0:15. Introduce the team and the one-line pitch: Surge tells a hospital or clinic what to keep powered when the grid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 to 0:40. About 1 billion people are served by health facilities with unreliable electricity (WHO 2023). Vaccines and insulin spoil, and the ICU and the waiting room share one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 to 1:00. SDG 3, target 3.8: medicines and vaccines. SDG 7, target 7.1: reliable energy. Users are the manager or senior nurse of a hospital or clinic.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to 2:00. Switch to the app. Sign in as a clinic and press Fill in sample data. Point at the graph and the time it can last. Untick a room and show the time go up. Press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 to 2:25. Open Current status and press Power is off. Read out the keep and shut-off lists, and tick one item as shut off. Clinics also see which medicines are at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Clinics only. The ranking comes from the team dataset: cold-chain medicines first, scored 30 percent on shelf-life urgency and 70 percent on price. The app tells staff to check the label and never decides whether a medicine can be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 to 2:45. Ranks, a simulation in 15-minute steps, the medicine priority score from our dataset, and a weather-based power-cut chance. It works offline and 17 tests check the maths.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 to 3:00. Be honest about the limits. The battery is never recharged, the fridge hold time is an assumption, and nothing has been validated with a clinician yet.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ile"/>
          <p:cNvSpPr/>
          <p:nvPr/>
        </p:nvSpPr>
        <p:spPr>
          <a:xfrm>
            <a:off x="457200" y="45720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4" name="Logo bolt"/>
          <p:cNvSpPr/>
          <p:nvPr/>
        </p:nvSpPr>
        <p:spPr>
          <a:xfrm>
            <a:off x="548640" y="530352"/>
            <a:ext cx="320040" cy="365760"/>
          </a:xfrm>
          <a:prstGeom prst="lightningBolt">
            <a:avLst/>
          </a:prstGeom>
          <a:solidFill>
            <a:srgbClr val="1F7A53"/>
          </a:solidFill>
          <a:ln w="12700">
            <a:solidFill>
              <a:srgbClr val="1F7A53"/>
            </a:solidFill>
            <a:prstDash val="solid"/>
          </a:ln>
        </p:spPr>
      </p:sp>
      <p:sp>
        <p:nvSpPr>
          <p:cNvPr id="5" name="Wordmark"/>
          <p:cNvSpPr txBox="1"/>
          <p:nvPr/>
        </p:nvSpPr>
        <p:spPr>
          <a:xfrm>
            <a:off x="11430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</a:t>
            </a:r>
            <a:endParaRPr lang="en-US" sz="1800" dirty="0"/>
          </a:p>
        </p:txBody>
      </p:sp>
      <p:sp>
        <p:nvSpPr>
          <p:cNvPr id="6" name="Title"/>
          <p:cNvSpPr txBox="1"/>
          <p:nvPr/>
        </p:nvSpPr>
        <p:spPr>
          <a:xfrm>
            <a:off x="457200" y="13716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to keep powered when the grid fails</a:t>
            </a:r>
            <a:endParaRPr lang="en-US" sz="3000" dirty="0"/>
          </a:p>
        </p:txBody>
      </p:sp>
      <p:sp>
        <p:nvSpPr>
          <p:cNvPr id="7" name="Subtitle"/>
          <p:cNvSpPr txBox="1"/>
          <p:nvPr/>
        </p:nvSpPr>
        <p:spPr>
          <a:xfrm>
            <a:off x="457200" y="3108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power-outage planner for hospitals and clinics</a:t>
            </a:r>
            <a:endParaRPr lang="en-US" sz="1600" dirty="0"/>
          </a:p>
        </p:txBody>
      </p:sp>
      <p:sp>
        <p:nvSpPr>
          <p:cNvPr id="8" name="Pill SDG 3"/>
          <p:cNvSpPr/>
          <p:nvPr/>
        </p:nvSpPr>
        <p:spPr>
          <a:xfrm>
            <a:off x="457200" y="40690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9" name="Pill text SDG 3"/>
          <p:cNvSpPr txBox="1"/>
          <p:nvPr/>
        </p:nvSpPr>
        <p:spPr>
          <a:xfrm>
            <a:off x="457200" y="4069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3</a:t>
            </a:r>
            <a:endParaRPr lang="en-US" sz="1100" dirty="0"/>
          </a:p>
        </p:txBody>
      </p:sp>
      <p:sp>
        <p:nvSpPr>
          <p:cNvPr id="10" name="Pill SDG 7"/>
          <p:cNvSpPr/>
          <p:nvPr/>
        </p:nvSpPr>
        <p:spPr>
          <a:xfrm>
            <a:off x="1417320" y="40690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CC30B"/>
          </a:solidFill>
          <a:ln w="12700">
            <a:solidFill>
              <a:srgbClr val="FCC30B"/>
            </a:solidFill>
            <a:prstDash val="solid"/>
          </a:ln>
        </p:spPr>
      </p:sp>
      <p:sp>
        <p:nvSpPr>
          <p:cNvPr id="11" name="Pill text SDG 7"/>
          <p:cNvSpPr txBox="1"/>
          <p:nvPr/>
        </p:nvSpPr>
        <p:spPr>
          <a:xfrm>
            <a:off x="1417320" y="4069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7</a:t>
            </a:r>
            <a:endParaRPr lang="en-US" sz="1100" dirty="0"/>
          </a:p>
        </p:txBody>
      </p:sp>
      <p:sp>
        <p:nvSpPr>
          <p:cNvPr id="12" name="Screenshot frame"/>
          <p:cNvSpPr/>
          <p:nvPr/>
        </p:nvSpPr>
        <p:spPr>
          <a:xfrm>
            <a:off x="5835139" y="1051560"/>
            <a:ext cx="2137163" cy="3200400"/>
          </a:xfrm>
          <a:prstGeom prst="roundRect">
            <a:avLst>
              <a:gd name="adj" fmla="val 3423"/>
            </a:avLst>
          </a:prstGeom>
          <a:solidFill>
            <a:srgbClr val="FFFFFF"/>
          </a:solidFill>
          <a:ln w="12700">
            <a:solidFill>
              <a:srgbClr val="B9DCC8"/>
            </a:solidFill>
            <a:prstDash val="solid"/>
          </a:ln>
          <a:effectLst>
            <a:outerShdw sx="100000" sy="100000" kx="0" ky="0" algn="bl" rotWithShape="0" blurRad="101600" dist="38100" dir="5400000">
              <a:srgbClr val="14301F">
                <a:alpha val="18000"/>
              </a:srgbClr>
            </a:outerShdw>
          </a:effectLst>
        </p:spPr>
      </p:sp>
      <p:pic>
        <p:nvPicPr>
          <p:cNvPr id="13" name="Screenshot" descr="Screenshot of the Surge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859" y="1097280"/>
            <a:ext cx="2045723" cy="3108960"/>
          </a:xfrm>
          <a:prstGeom prst="rect">
            <a:avLst/>
          </a:prstGeom>
        </p:spPr>
      </p:pic>
      <p:sp>
        <p:nvSpPr>
          <p:cNvPr id="14" name="Caption"/>
          <p:cNvSpPr txBox="1"/>
          <p:nvPr/>
        </p:nvSpPr>
        <p:spPr>
          <a:xfrm>
            <a:off x="5120640" y="4434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and clinics sign in and get their own setup and dashboard.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lose power, and staff improvise</a:t>
            </a:r>
            <a:endParaRPr lang="en-US" sz="3000" dirty="0"/>
          </a:p>
        </p:txBody>
      </p:sp>
      <p:sp>
        <p:nvSpPr>
          <p:cNvPr id="4" name="Stat card"/>
          <p:cNvSpPr/>
          <p:nvPr/>
        </p:nvSpPr>
        <p:spPr>
          <a:xfrm>
            <a:off x="457200" y="132588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5" name="Stat"/>
          <p:cNvSpPr txBox="1"/>
          <p:nvPr/>
        </p:nvSpPr>
        <p:spPr>
          <a:xfrm>
            <a:off x="731520" y="1554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billion</a:t>
            </a:r>
            <a:endParaRPr lang="en-US" sz="4400" dirty="0"/>
          </a:p>
        </p:txBody>
      </p:sp>
      <p:sp>
        <p:nvSpPr>
          <p:cNvPr id="6" name="Stat label"/>
          <p:cNvSpPr txBox="1"/>
          <p:nvPr/>
        </p:nvSpPr>
        <p:spPr>
          <a:xfrm>
            <a:off x="731520" y="2423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are served by health facilities with unreliable or no electricity</a:t>
            </a:r>
            <a:endParaRPr lang="en-US" sz="1600" dirty="0"/>
          </a:p>
        </p:txBody>
      </p:sp>
      <p:sp>
        <p:nvSpPr>
          <p:cNvPr id="7" name="Source"/>
          <p:cNvSpPr txBox="1"/>
          <p:nvPr/>
        </p:nvSpPr>
        <p:spPr>
          <a:xfrm>
            <a:off x="73152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WHO, World Bank and IRENA, Energizing Health, 2023</a:t>
            </a:r>
            <a:endParaRPr lang="en-US" sz="1100" dirty="0"/>
          </a:p>
        </p:txBody>
      </p:sp>
      <p:sp>
        <p:nvSpPr>
          <p:cNvPr id="8" name="Badge 1"/>
          <p:cNvSpPr/>
          <p:nvPr/>
        </p:nvSpPr>
        <p:spPr>
          <a:xfrm>
            <a:off x="4572000" y="1371600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9" name="Badge text 1"/>
          <p:cNvSpPr txBox="1"/>
          <p:nvPr/>
        </p:nvSpPr>
        <p:spPr>
          <a:xfrm>
            <a:off x="45720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Point 1"/>
          <p:cNvSpPr txBox="1"/>
          <p:nvPr/>
        </p:nvSpPr>
        <p:spPr>
          <a:xfrm>
            <a:off x="5257800" y="1325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Vaccines and insulin spoil</a:t>
            </a:r>
            <a:endParaRPr lang="en-US" sz="1800" dirty="0"/>
          </a:p>
        </p:txBody>
      </p:sp>
      <p:sp>
        <p:nvSpPr>
          <p:cNvPr id="11" name="Point text 1"/>
          <p:cNvSpPr txBox="1"/>
          <p:nvPr/>
        </p:nvSpPr>
        <p:spPr>
          <a:xfrm>
            <a:off x="5257800" y="17099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Medicines that need a fridge are the first to go when power does.</a:t>
            </a:r>
            <a:endParaRPr lang="en-US" sz="1400" dirty="0"/>
          </a:p>
        </p:txBody>
      </p:sp>
      <p:sp>
        <p:nvSpPr>
          <p:cNvPr id="12" name="Badge 2"/>
          <p:cNvSpPr/>
          <p:nvPr/>
        </p:nvSpPr>
        <p:spPr>
          <a:xfrm>
            <a:off x="4572000" y="2395728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13" name="Badge text 2"/>
          <p:cNvSpPr txBox="1"/>
          <p:nvPr/>
        </p:nvSpPr>
        <p:spPr>
          <a:xfrm>
            <a:off x="45720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Point 2"/>
          <p:cNvSpPr txBox="1"/>
          <p:nvPr/>
        </p:nvSpPr>
        <p:spPr>
          <a:xfrm>
            <a:off x="5257800" y="2350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generator, many demands</a:t>
            </a:r>
            <a:endParaRPr lang="en-US" sz="1800" dirty="0"/>
          </a:p>
        </p:txBody>
      </p:sp>
      <p:sp>
        <p:nvSpPr>
          <p:cNvPr id="15" name="Point text 2"/>
          <p:cNvSpPr txBox="1"/>
          <p:nvPr/>
        </p:nvSpPr>
        <p:spPr>
          <a:xfrm>
            <a:off x="5257800" y="273405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ICU, the theatre and the waiting room share the same fuel.</a:t>
            </a:r>
            <a:endParaRPr lang="en-US" sz="1400" dirty="0"/>
          </a:p>
        </p:txBody>
      </p:sp>
      <p:sp>
        <p:nvSpPr>
          <p:cNvPr id="16" name="Badge 3"/>
          <p:cNvSpPr/>
          <p:nvPr/>
        </p:nvSpPr>
        <p:spPr>
          <a:xfrm>
            <a:off x="4572000" y="3419856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17" name="Badge text 3"/>
          <p:cNvSpPr txBox="1"/>
          <p:nvPr/>
        </p:nvSpPr>
        <p:spPr>
          <a:xfrm>
            <a:off x="457200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Point 3"/>
          <p:cNvSpPr txBox="1"/>
          <p:nvPr/>
        </p:nvSpPr>
        <p:spPr>
          <a:xfrm>
            <a:off x="5257800" y="3374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simple way to decide</a:t>
            </a:r>
            <a:endParaRPr lang="en-US" sz="1800" dirty="0"/>
          </a:p>
        </p:txBody>
      </p:sp>
      <p:sp>
        <p:nvSpPr>
          <p:cNvPr id="19" name="Point text 3"/>
          <p:cNvSpPr txBox="1"/>
          <p:nvPr/>
        </p:nvSpPr>
        <p:spPr>
          <a:xfrm>
            <a:off x="5257800" y="37581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guess what to switch off, often under pressure.</a:t>
            </a:r>
            <a:endParaRPr lang="en-US" sz="1400" dirty="0"/>
          </a:p>
        </p:txBody>
      </p:sp>
      <p:sp>
        <p:nvSpPr>
          <p:cNvPr id="20" name="Page number"/>
          <p:cNvSpPr txBox="1"/>
          <p:nvPr/>
        </p:nvSpPr>
        <p:spPr>
          <a:xfrm>
            <a:off x="777240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goals, two kinds of user</a:t>
            </a:r>
            <a:endParaRPr lang="en-US" sz="3000" dirty="0"/>
          </a:p>
        </p:txBody>
      </p:sp>
      <p:sp>
        <p:nvSpPr>
          <p:cNvPr id="4" name="SDG card 3"/>
          <p:cNvSpPr/>
          <p:nvPr/>
        </p:nvSpPr>
        <p:spPr>
          <a:xfrm>
            <a:off x="457200" y="1280160"/>
            <a:ext cx="4023360" cy="2057400"/>
          </a:xfrm>
          <a:prstGeom prst="roundRect">
            <a:avLst>
              <a:gd name="adj" fmla="val 5333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5" name="Badge 3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6" name="Badge text 3"/>
          <p:cNvSpPr txBox="1"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7" name="SDG name 3"/>
          <p:cNvSpPr txBox="1"/>
          <p:nvPr/>
        </p:nvSpPr>
        <p:spPr>
          <a:xfrm>
            <a:off x="1463040" y="1463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3: Good Health and Well-being</a:t>
            </a:r>
            <a:endParaRPr lang="en-US" sz="1600" dirty="0"/>
          </a:p>
        </p:txBody>
      </p:sp>
      <p:sp>
        <p:nvSpPr>
          <p:cNvPr id="8" name="SDG target 3"/>
          <p:cNvSpPr txBox="1"/>
          <p:nvPr/>
        </p:nvSpPr>
        <p:spPr>
          <a:xfrm>
            <a:off x="68580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3.8: essential medicines and vaccines</a:t>
            </a:r>
            <a:endParaRPr lang="en-US" sz="1400" dirty="0"/>
          </a:p>
        </p:txBody>
      </p:sp>
      <p:sp>
        <p:nvSpPr>
          <p:cNvPr id="9" name="SDG how 3"/>
          <p:cNvSpPr txBox="1"/>
          <p:nvPr/>
        </p:nvSpPr>
        <p:spPr>
          <a:xfrm>
            <a:off x="68580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critical care and the cold chain first.</a:t>
            </a:r>
            <a:endParaRPr lang="en-US" sz="1400" dirty="0"/>
          </a:p>
        </p:txBody>
      </p:sp>
      <p:sp>
        <p:nvSpPr>
          <p:cNvPr id="10" name="SDG card 7"/>
          <p:cNvSpPr/>
          <p:nvPr/>
        </p:nvSpPr>
        <p:spPr>
          <a:xfrm>
            <a:off x="4663440" y="1280160"/>
            <a:ext cx="4023360" cy="2057400"/>
          </a:xfrm>
          <a:prstGeom prst="roundRect">
            <a:avLst>
              <a:gd name="adj" fmla="val 5333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11" name="Badge 7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FCC30B"/>
          </a:solidFill>
          <a:ln w="12700">
            <a:solidFill>
              <a:srgbClr val="FCC30B"/>
            </a:solidFill>
            <a:prstDash val="solid"/>
          </a:ln>
        </p:spPr>
      </p:sp>
      <p:sp>
        <p:nvSpPr>
          <p:cNvPr id="12" name="Badge text 7"/>
          <p:cNvSpPr txBox="1"/>
          <p:nvPr/>
        </p:nvSpPr>
        <p:spPr>
          <a:xfrm>
            <a:off x="48920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13" name="SDG name 7"/>
          <p:cNvSpPr txBox="1"/>
          <p:nvPr/>
        </p:nvSpPr>
        <p:spPr>
          <a:xfrm>
            <a:off x="5669280" y="1463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7: Affordable and Clean Energy</a:t>
            </a:r>
            <a:endParaRPr lang="en-US" sz="1600" dirty="0"/>
          </a:p>
        </p:txBody>
      </p:sp>
      <p:sp>
        <p:nvSpPr>
          <p:cNvPr id="14" name="SDG target 7"/>
          <p:cNvSpPr txBox="1"/>
          <p:nvPr/>
        </p:nvSpPr>
        <p:spPr>
          <a:xfrm>
            <a:off x="489204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7.1: reliable energy services</a:t>
            </a:r>
            <a:endParaRPr lang="en-US" sz="1400" dirty="0"/>
          </a:p>
        </p:txBody>
      </p:sp>
      <p:sp>
        <p:nvSpPr>
          <p:cNvPr id="15" name="SDG how 7"/>
          <p:cNvSpPr txBox="1"/>
          <p:nvPr/>
        </p:nvSpPr>
        <p:spPr>
          <a:xfrm>
            <a:off x="489204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limited fuel and battery last longer.</a:t>
            </a:r>
            <a:endParaRPr lang="en-US" sz="1400" dirty="0"/>
          </a:p>
        </p:txBody>
      </p:sp>
      <p:sp>
        <p:nvSpPr>
          <p:cNvPr id="16" name="Users label"/>
          <p:cNvSpPr txBox="1"/>
          <p:nvPr/>
        </p:nvSpPr>
        <p:spPr>
          <a:xfrm>
            <a:off x="4572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1200" dirty="0"/>
          </a:p>
        </p:txBody>
      </p:sp>
      <p:sp>
        <p:nvSpPr>
          <p:cNvPr id="17" name="User card Hospital"/>
          <p:cNvSpPr/>
          <p:nvPr/>
        </p:nvSpPr>
        <p:spPr>
          <a:xfrm>
            <a:off x="457200" y="388620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18" name="User Hospital"/>
          <p:cNvSpPr txBox="1"/>
          <p:nvPr/>
        </p:nvSpPr>
        <p:spPr>
          <a:xfrm>
            <a:off x="64008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 </a:t>
            </a:r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or engineer ranking departments such as the ICU.</a:t>
            </a:r>
            <a:endParaRPr lang="en-US" sz="1400" dirty="0"/>
          </a:p>
        </p:txBody>
      </p:sp>
      <p:sp>
        <p:nvSpPr>
          <p:cNvPr id="19" name="User card Clinic"/>
          <p:cNvSpPr/>
          <p:nvPr/>
        </p:nvSpPr>
        <p:spPr>
          <a:xfrm>
            <a:off x="4663440" y="388620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20" name="User Clinic"/>
          <p:cNvSpPr txBox="1"/>
          <p:nvPr/>
        </p:nvSpPr>
        <p:spPr>
          <a:xfrm>
            <a:off x="484632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 </a:t>
            </a:r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nurse or manager, who also protects the medicine fridge.</a:t>
            </a:r>
            <a:endParaRPr lang="en-US" sz="1400" dirty="0"/>
          </a:p>
        </p:txBody>
      </p:sp>
      <p:sp>
        <p:nvSpPr>
          <p:cNvPr id="21" name="Page number"/>
          <p:cNvSpPr txBox="1"/>
          <p:nvPr/>
        </p:nvSpPr>
        <p:spPr>
          <a:xfrm>
            <a:off x="777240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long the backup will last</a:t>
            </a:r>
            <a:endParaRPr lang="en-US" sz="3000" dirty="0"/>
          </a:p>
        </p:txBody>
      </p:sp>
      <p:sp>
        <p:nvSpPr>
          <p:cNvPr id="4" name="Pill LIVE DEMO 1"/>
          <p:cNvSpPr/>
          <p:nvPr/>
        </p:nvSpPr>
        <p:spPr>
          <a:xfrm>
            <a:off x="7132320" y="457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5" name="Pill text LIVE DEMO 1"/>
          <p:cNvSpPr txBox="1"/>
          <p:nvPr/>
        </p:nvSpPr>
        <p:spPr>
          <a:xfrm>
            <a:off x="7132320" y="457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1</a:t>
            </a:r>
            <a:endParaRPr lang="en-US" sz="1100" dirty="0"/>
          </a:p>
        </p:txBody>
      </p:sp>
      <p:sp>
        <p:nvSpPr>
          <p:cNvPr id="6" name="Screenshot frame"/>
          <p:cNvSpPr/>
          <p:nvPr/>
        </p:nvSpPr>
        <p:spPr>
          <a:xfrm>
            <a:off x="1686710" y="1143000"/>
            <a:ext cx="57705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B9DCC8"/>
            </a:solidFill>
            <a:prstDash val="solid"/>
          </a:ln>
          <a:effectLst>
            <a:outerShdw sx="100000" sy="100000" kx="0" ky="0" algn="bl" rotWithShape="0" blurRad="101600" dist="38100" dir="5400000">
              <a:srgbClr val="14301F">
                <a:alpha val="18000"/>
              </a:srgbClr>
            </a:outerShdw>
          </a:effectLst>
        </p:spPr>
      </p:sp>
      <p:pic>
        <p:nvPicPr>
          <p:cNvPr id="7" name="Screenshot" descr="Screenshot of the Surge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430" y="1188720"/>
            <a:ext cx="5679140" cy="2926080"/>
          </a:xfrm>
          <a:prstGeom prst="rect">
            <a:avLst/>
          </a:prstGeom>
        </p:spPr>
      </p:pic>
      <p:sp>
        <p:nvSpPr>
          <p:cNvPr id="8" name="Badge 1"/>
          <p:cNvSpPr/>
          <p:nvPr/>
        </p:nvSpPr>
        <p:spPr>
          <a:xfrm>
            <a:off x="457200" y="4389120"/>
            <a:ext cx="365760" cy="36576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9" name="Badge text 1"/>
          <p:cNvSpPr txBox="1"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Callout 1"/>
          <p:cNvSpPr txBox="1"/>
          <p:nvPr/>
        </p:nvSpPr>
        <p:spPr>
          <a:xfrm>
            <a:off x="932688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graph: battery and fuel running down</a:t>
            </a:r>
            <a:endParaRPr lang="en-US" sz="1400" dirty="0"/>
          </a:p>
        </p:txBody>
      </p:sp>
      <p:sp>
        <p:nvSpPr>
          <p:cNvPr id="11" name="Badge 2"/>
          <p:cNvSpPr/>
          <p:nvPr/>
        </p:nvSpPr>
        <p:spPr>
          <a:xfrm>
            <a:off x="3246120" y="4389120"/>
            <a:ext cx="365760" cy="36576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12" name="Badge text 2"/>
          <p:cNvSpPr txBox="1"/>
          <p:nvPr/>
        </p:nvSpPr>
        <p:spPr>
          <a:xfrm>
            <a:off x="324612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Callout 2"/>
          <p:cNvSpPr txBox="1"/>
          <p:nvPr/>
        </p:nvSpPr>
        <p:spPr>
          <a:xfrm>
            <a:off x="3721608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it can last, updating as you choose</a:t>
            </a:r>
            <a:endParaRPr lang="en-US" sz="1400" dirty="0"/>
          </a:p>
        </p:txBody>
      </p:sp>
      <p:sp>
        <p:nvSpPr>
          <p:cNvPr id="14" name="Badge 3"/>
          <p:cNvSpPr/>
          <p:nvPr/>
        </p:nvSpPr>
        <p:spPr>
          <a:xfrm>
            <a:off x="6035040" y="4389120"/>
            <a:ext cx="365760" cy="36576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15" name="Badge text 3"/>
          <p:cNvSpPr txBox="1"/>
          <p:nvPr/>
        </p:nvSpPr>
        <p:spPr>
          <a:xfrm>
            <a:off x="60350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Callout 3"/>
          <p:cNvSpPr txBox="1"/>
          <p:nvPr/>
        </p:nvSpPr>
        <p:spPr>
          <a:xfrm>
            <a:off x="6510528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what gets power, then press Run</a:t>
            </a:r>
            <a:endParaRPr lang="en-US" sz="1400" dirty="0"/>
          </a:p>
        </p:txBody>
      </p:sp>
      <p:sp>
        <p:nvSpPr>
          <p:cNvPr id="17" name="Page number"/>
          <p:cNvSpPr txBox="1"/>
          <p:nvPr/>
        </p:nvSpPr>
        <p:spPr>
          <a:xfrm>
            <a:off x="777240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fails? Press one button</a:t>
            </a:r>
            <a:endParaRPr lang="en-US" sz="3000" dirty="0"/>
          </a:p>
        </p:txBody>
      </p:sp>
      <p:sp>
        <p:nvSpPr>
          <p:cNvPr id="4" name="Pill LIVE DEMO 2"/>
          <p:cNvSpPr/>
          <p:nvPr/>
        </p:nvSpPr>
        <p:spPr>
          <a:xfrm>
            <a:off x="7132320" y="457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5" name="Pill text LIVE DEMO 2"/>
          <p:cNvSpPr txBox="1"/>
          <p:nvPr/>
        </p:nvSpPr>
        <p:spPr>
          <a:xfrm>
            <a:off x="7132320" y="457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2</a:t>
            </a:r>
            <a:endParaRPr lang="en-US" sz="1100" dirty="0"/>
          </a:p>
        </p:txBody>
      </p:sp>
      <p:sp>
        <p:nvSpPr>
          <p:cNvPr id="6" name="Badge 1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7" name="Badge text 1"/>
          <p:cNvSpPr txBox="1"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tep 1"/>
          <p:cNvSpPr txBox="1"/>
          <p:nvPr/>
        </p:nvSpPr>
        <p:spPr>
          <a:xfrm>
            <a:off x="109728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"Power is off"</a:t>
            </a:r>
            <a:endParaRPr lang="en-US" sz="1600" dirty="0"/>
          </a:p>
        </p:txBody>
      </p:sp>
      <p:sp>
        <p:nvSpPr>
          <p:cNvPr id="9" name="Badge 2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10" name="Badge text 2"/>
          <p:cNvSpPr txBox="1"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tep 2"/>
          <p:cNvSpPr txBox="1"/>
          <p:nvPr/>
        </p:nvSpPr>
        <p:spPr>
          <a:xfrm>
            <a:off x="109728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these on</a:t>
            </a:r>
            <a:endParaRPr lang="en-US" sz="1600" dirty="0"/>
          </a:p>
        </p:txBody>
      </p:sp>
      <p:sp>
        <p:nvSpPr>
          <p:cNvPr id="12" name="Badge 3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13" name="Badge text 3"/>
          <p:cNvSpPr txBox="1"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tep 3"/>
          <p:cNvSpPr txBox="1"/>
          <p:nvPr/>
        </p:nvSpPr>
        <p:spPr>
          <a:xfrm>
            <a:off x="109728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 these off and tick them</a:t>
            </a:r>
            <a:endParaRPr lang="en-US" sz="1600" dirty="0"/>
          </a:p>
        </p:txBody>
      </p:sp>
      <p:sp>
        <p:nvSpPr>
          <p:cNvPr id="15" name="Note"/>
          <p:cNvSpPr txBox="1"/>
          <p:nvPr/>
        </p:nvSpPr>
        <p:spPr>
          <a:xfrm>
            <a:off x="457200" y="3749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ask for power for at least a number of hours, and Surge keeps only what can last that long.</a:t>
            </a:r>
            <a:endParaRPr lang="en-US" sz="1400" dirty="0"/>
          </a:p>
        </p:txBody>
      </p:sp>
      <p:sp>
        <p:nvSpPr>
          <p:cNvPr id="16" name="Status banner"/>
          <p:cNvSpPr/>
          <p:nvPr/>
        </p:nvSpPr>
        <p:spPr>
          <a:xfrm>
            <a:off x="4206240" y="1280160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FFF5F3"/>
          </a:solidFill>
          <a:ln w="12700">
            <a:solidFill>
              <a:srgbClr val="EBB3AB"/>
            </a:solidFill>
            <a:prstDash val="solid"/>
          </a:ln>
        </p:spPr>
      </p:sp>
      <p:sp>
        <p:nvSpPr>
          <p:cNvPr id="17" name="Status text"/>
          <p:cNvSpPr txBox="1"/>
          <p:nvPr/>
        </p:nvSpPr>
        <p:spPr>
          <a:xfrm>
            <a:off x="443484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is OFF</a:t>
            </a:r>
            <a:endParaRPr lang="en-US" sz="2000" dirty="0"/>
          </a:p>
        </p:txBody>
      </p:sp>
      <p:sp>
        <p:nvSpPr>
          <p:cNvPr id="18" name="Status remaining"/>
          <p:cNvSpPr txBox="1"/>
          <p:nvPr/>
        </p:nvSpPr>
        <p:spPr>
          <a:xfrm>
            <a:off x="6400800" y="1280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00m remaining</a:t>
            </a:r>
            <a:endParaRPr lang="en-US" sz="1400" dirty="0"/>
          </a:p>
        </p:txBody>
      </p:sp>
      <p:sp>
        <p:nvSpPr>
          <p:cNvPr id="19" name="Keep card"/>
          <p:cNvSpPr/>
          <p:nvPr/>
        </p:nvSpPr>
        <p:spPr>
          <a:xfrm>
            <a:off x="4206240" y="2194560"/>
            <a:ext cx="2194560" cy="2423160"/>
          </a:xfrm>
          <a:prstGeom prst="roundRect">
            <a:avLst>
              <a:gd name="adj" fmla="val 5000"/>
            </a:avLst>
          </a:prstGeom>
          <a:solidFill>
            <a:srgbClr val="E6F6EC"/>
          </a:solidFill>
          <a:ln w="12700">
            <a:solidFill>
              <a:srgbClr val="8FCAA9"/>
            </a:solidFill>
            <a:prstDash val="solid"/>
          </a:ln>
        </p:spPr>
      </p:sp>
      <p:sp>
        <p:nvSpPr>
          <p:cNvPr id="20" name="Keep heading"/>
          <p:cNvSpPr txBox="1"/>
          <p:nvPr/>
        </p:nvSpPr>
        <p:spPr>
          <a:xfrm>
            <a:off x="43891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 · 5</a:t>
            </a:r>
            <a:endParaRPr lang="en-US" sz="1200" dirty="0"/>
          </a:p>
        </p:txBody>
      </p:sp>
      <p:sp>
        <p:nvSpPr>
          <p:cNvPr id="21" name="Keep list"/>
          <p:cNvSpPr txBox="1"/>
          <p:nvPr/>
        </p:nvSpPr>
        <p:spPr>
          <a:xfrm>
            <a:off x="4389120" y="26974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care unit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theatre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department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ward</a:t>
            </a:r>
            <a:endParaRPr lang="en-US" sz="1400" dirty="0"/>
          </a:p>
        </p:txBody>
      </p:sp>
      <p:sp>
        <p:nvSpPr>
          <p:cNvPr id="22" name="Shut card"/>
          <p:cNvSpPr/>
          <p:nvPr/>
        </p:nvSpPr>
        <p:spPr>
          <a:xfrm>
            <a:off x="6583680" y="2194560"/>
            <a:ext cx="2103120" cy="2423160"/>
          </a:xfrm>
          <a:prstGeom prst="roundRect">
            <a:avLst>
              <a:gd name="adj" fmla="val 5217"/>
            </a:avLst>
          </a:prstGeom>
          <a:solidFill>
            <a:srgbClr val="FFF5F3"/>
          </a:solidFill>
          <a:ln w="12700">
            <a:solidFill>
              <a:srgbClr val="EBB3AB"/>
            </a:solidFill>
            <a:prstDash val="solid"/>
          </a:ln>
        </p:spPr>
      </p:sp>
      <p:sp>
        <p:nvSpPr>
          <p:cNvPr id="23" name="Shut heading"/>
          <p:cNvSpPr txBox="1"/>
          <p:nvPr/>
        </p:nvSpPr>
        <p:spPr>
          <a:xfrm>
            <a:off x="676656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4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 OFF · 3</a:t>
            </a:r>
            <a:endParaRPr lang="en-US" sz="1200" dirty="0"/>
          </a:p>
        </p:txBody>
      </p:sp>
      <p:sp>
        <p:nvSpPr>
          <p:cNvPr id="24" name="Shut list"/>
          <p:cNvSpPr txBox="1"/>
          <p:nvPr/>
        </p:nvSpPr>
        <p:spPr>
          <a:xfrm>
            <a:off x="6766560" y="26974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Outpatient dept.</a:t>
            </a:r>
            <a:endParaRPr lang="en-US" sz="1400" dirty="0"/>
          </a:p>
        </p:txBody>
      </p:sp>
      <p:sp>
        <p:nvSpPr>
          <p:cNvPr id="25" name="Page number"/>
          <p:cNvSpPr txBox="1"/>
          <p:nvPr/>
        </p:nvSpPr>
        <p:spPr>
          <a:xfrm>
            <a:off x="777240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Medicines ranked for an outage</a:t>
            </a:r>
            <a:endParaRPr lang="en-US" sz="3000" dirty="0"/>
          </a:p>
        </p:txBody>
      </p:sp>
      <p:sp>
        <p:nvSpPr>
          <p:cNvPr id="4" name="Table card"/>
          <p:cNvSpPr/>
          <p:nvPr/>
        </p:nvSpPr>
        <p:spPr>
          <a:xfrm>
            <a:off x="457200" y="1280160"/>
            <a:ext cx="5486400" cy="3246120"/>
          </a:xfrm>
          <a:prstGeom prst="roundRect">
            <a:avLst>
              <a:gd name="adj" fmla="val 3380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5" name="Column #"/>
          <p:cNvSpPr txBox="1"/>
          <p:nvPr/>
        </p:nvSpPr>
        <p:spPr>
          <a:xfrm>
            <a:off x="64008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Column Medicine"/>
          <p:cNvSpPr txBox="1"/>
          <p:nvPr/>
        </p:nvSpPr>
        <p:spPr>
          <a:xfrm>
            <a:off x="1005840" y="1371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</a:t>
            </a:r>
            <a:endParaRPr lang="en-US" sz="1100" dirty="0"/>
          </a:p>
        </p:txBody>
      </p:sp>
      <p:sp>
        <p:nvSpPr>
          <p:cNvPr id="7" name="Column Days outside fridge"/>
          <p:cNvSpPr txBox="1"/>
          <p:nvPr/>
        </p:nvSpPr>
        <p:spPr>
          <a:xfrm>
            <a:off x="3108960" y="1371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outside fridge</a:t>
            </a:r>
            <a:endParaRPr lang="en-US" sz="1100" dirty="0"/>
          </a:p>
        </p:txBody>
      </p:sp>
      <p:sp>
        <p:nvSpPr>
          <p:cNvPr id="8" name="Column Score"/>
          <p:cNvSpPr txBox="1"/>
          <p:nvPr/>
        </p:nvSpPr>
        <p:spPr>
          <a:xfrm>
            <a:off x="4297680" y="13716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100" dirty="0"/>
          </a:p>
        </p:txBody>
      </p:sp>
      <p:sp>
        <p:nvSpPr>
          <p:cNvPr id="9" name="Column Storage"/>
          <p:cNvSpPr txBox="1"/>
          <p:nvPr/>
        </p:nvSpPr>
        <p:spPr>
          <a:xfrm>
            <a:off x="493776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100" dirty="0"/>
          </a:p>
        </p:txBody>
      </p:sp>
      <p:sp>
        <p:nvSpPr>
          <p:cNvPr id="10" name="Cell 0-0"/>
          <p:cNvSpPr txBox="1"/>
          <p:nvPr/>
        </p:nvSpPr>
        <p:spPr>
          <a:xfrm>
            <a:off x="640080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Cell 0-1"/>
          <p:cNvSpPr txBox="1"/>
          <p:nvPr/>
        </p:nvSpPr>
        <p:spPr>
          <a:xfrm>
            <a:off x="1005840" y="1783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Penicillin injection</a:t>
            </a:r>
            <a:endParaRPr lang="en-US" sz="1400" dirty="0"/>
          </a:p>
        </p:txBody>
      </p:sp>
      <p:sp>
        <p:nvSpPr>
          <p:cNvPr id="12" name="Cell 0-2"/>
          <p:cNvSpPr txBox="1"/>
          <p:nvPr/>
        </p:nvSpPr>
        <p:spPr>
          <a:xfrm>
            <a:off x="310896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unconfirmed</a:t>
            </a:r>
            <a:endParaRPr lang="en-US" sz="1400" dirty="0"/>
          </a:p>
        </p:txBody>
      </p:sp>
      <p:sp>
        <p:nvSpPr>
          <p:cNvPr id="13" name="Cell 0-3"/>
          <p:cNvSpPr txBox="1"/>
          <p:nvPr/>
        </p:nvSpPr>
        <p:spPr>
          <a:xfrm>
            <a:off x="4297680" y="1783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</a:t>
            </a:r>
            <a:endParaRPr lang="en-US" sz="1400" dirty="0"/>
          </a:p>
        </p:txBody>
      </p:sp>
      <p:sp>
        <p:nvSpPr>
          <p:cNvPr id="14" name="Storage pill 0"/>
          <p:cNvSpPr/>
          <p:nvPr/>
        </p:nvSpPr>
        <p:spPr>
          <a:xfrm>
            <a:off x="4937760" y="185623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9F0F0"/>
          </a:solidFill>
          <a:ln w="12700">
            <a:solidFill>
              <a:srgbClr val="D9F0F0"/>
            </a:solidFill>
            <a:prstDash val="solid"/>
          </a:ln>
        </p:spPr>
      </p:sp>
      <p:sp>
        <p:nvSpPr>
          <p:cNvPr id="15" name="Storage text 0"/>
          <p:cNvSpPr txBox="1"/>
          <p:nvPr/>
        </p:nvSpPr>
        <p:spPr>
          <a:xfrm>
            <a:off x="4937760" y="18562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chain</a:t>
            </a:r>
            <a:endParaRPr lang="en-US" sz="1100" dirty="0"/>
          </a:p>
        </p:txBody>
      </p:sp>
      <p:sp>
        <p:nvSpPr>
          <p:cNvPr id="16" name="Row line 1"/>
          <p:cNvSpPr/>
          <p:nvPr/>
        </p:nvSpPr>
        <p:spPr>
          <a:xfrm>
            <a:off x="640080" y="2276856"/>
            <a:ext cx="5212080" cy="9144"/>
          </a:xfrm>
          <a:prstGeom prst="rect">
            <a:avLst/>
          </a:prstGeom>
          <a:solidFill>
            <a:srgbClr val="D7EADF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17" name="Cell 1-0"/>
          <p:cNvSpPr txBox="1"/>
          <p:nvPr/>
        </p:nvSpPr>
        <p:spPr>
          <a:xfrm>
            <a:off x="640080" y="231343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Cell 1-1"/>
          <p:cNvSpPr txBox="1"/>
          <p:nvPr/>
        </p:nvSpPr>
        <p:spPr>
          <a:xfrm>
            <a:off x="1005840" y="23134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</a:t>
            </a:r>
            <a:endParaRPr lang="en-US" sz="1400" dirty="0"/>
          </a:p>
        </p:txBody>
      </p:sp>
      <p:sp>
        <p:nvSpPr>
          <p:cNvPr id="19" name="Cell 1-2"/>
          <p:cNvSpPr txBox="1"/>
          <p:nvPr/>
        </p:nvSpPr>
        <p:spPr>
          <a:xfrm>
            <a:off x="3108960" y="23134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00" dirty="0"/>
          </a:p>
        </p:txBody>
      </p:sp>
      <p:sp>
        <p:nvSpPr>
          <p:cNvPr id="20" name="Cell 1-3"/>
          <p:cNvSpPr txBox="1"/>
          <p:nvPr/>
        </p:nvSpPr>
        <p:spPr>
          <a:xfrm>
            <a:off x="4297680" y="23134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</a:t>
            </a:r>
            <a:endParaRPr lang="en-US" sz="1400" dirty="0"/>
          </a:p>
        </p:txBody>
      </p:sp>
      <p:sp>
        <p:nvSpPr>
          <p:cNvPr id="21" name="Storage pill 1"/>
          <p:cNvSpPr/>
          <p:nvPr/>
        </p:nvSpPr>
        <p:spPr>
          <a:xfrm>
            <a:off x="4937760" y="238658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9F0F0"/>
          </a:solidFill>
          <a:ln w="12700">
            <a:solidFill>
              <a:srgbClr val="D9F0F0"/>
            </a:solidFill>
            <a:prstDash val="solid"/>
          </a:ln>
        </p:spPr>
      </p:sp>
      <p:sp>
        <p:nvSpPr>
          <p:cNvPr id="22" name="Storage text 1"/>
          <p:cNvSpPr txBox="1"/>
          <p:nvPr/>
        </p:nvSpPr>
        <p:spPr>
          <a:xfrm>
            <a:off x="4937760" y="23865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chain</a:t>
            </a:r>
            <a:endParaRPr lang="en-US" sz="1100" dirty="0"/>
          </a:p>
        </p:txBody>
      </p:sp>
      <p:sp>
        <p:nvSpPr>
          <p:cNvPr id="23" name="Row line 2"/>
          <p:cNvSpPr/>
          <p:nvPr/>
        </p:nvSpPr>
        <p:spPr>
          <a:xfrm>
            <a:off x="640080" y="2807208"/>
            <a:ext cx="5212080" cy="9144"/>
          </a:xfrm>
          <a:prstGeom prst="rect">
            <a:avLst/>
          </a:prstGeom>
          <a:solidFill>
            <a:srgbClr val="D7EADF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24" name="Cell 2-0"/>
          <p:cNvSpPr txBox="1"/>
          <p:nvPr/>
        </p:nvSpPr>
        <p:spPr>
          <a:xfrm>
            <a:off x="640080" y="28437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Cell 2-1"/>
          <p:cNvSpPr txBox="1"/>
          <p:nvPr/>
        </p:nvSpPr>
        <p:spPr>
          <a:xfrm>
            <a:off x="1005840" y="284378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K injection</a:t>
            </a:r>
            <a:endParaRPr lang="en-US" sz="1400" dirty="0"/>
          </a:p>
        </p:txBody>
      </p:sp>
      <p:sp>
        <p:nvSpPr>
          <p:cNvPr id="26" name="Cell 2-2"/>
          <p:cNvSpPr txBox="1"/>
          <p:nvPr/>
        </p:nvSpPr>
        <p:spPr>
          <a:xfrm>
            <a:off x="3108960" y="28437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unconfirmed</a:t>
            </a:r>
            <a:endParaRPr lang="en-US" sz="1400" dirty="0"/>
          </a:p>
        </p:txBody>
      </p:sp>
      <p:sp>
        <p:nvSpPr>
          <p:cNvPr id="27" name="Cell 2-3"/>
          <p:cNvSpPr txBox="1"/>
          <p:nvPr/>
        </p:nvSpPr>
        <p:spPr>
          <a:xfrm>
            <a:off x="4297680" y="284378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</a:t>
            </a:r>
            <a:endParaRPr lang="en-US" sz="1400" dirty="0"/>
          </a:p>
        </p:txBody>
      </p:sp>
      <p:sp>
        <p:nvSpPr>
          <p:cNvPr id="28" name="Storage pill 2"/>
          <p:cNvSpPr/>
          <p:nvPr/>
        </p:nvSpPr>
        <p:spPr>
          <a:xfrm>
            <a:off x="4937760" y="291693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9F0F0"/>
          </a:solidFill>
          <a:ln w="12700">
            <a:solidFill>
              <a:srgbClr val="D9F0F0"/>
            </a:solidFill>
            <a:prstDash val="solid"/>
          </a:ln>
        </p:spPr>
      </p:sp>
      <p:sp>
        <p:nvSpPr>
          <p:cNvPr id="29" name="Storage text 2"/>
          <p:cNvSpPr txBox="1"/>
          <p:nvPr/>
        </p:nvSpPr>
        <p:spPr>
          <a:xfrm>
            <a:off x="4937760" y="29169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chain</a:t>
            </a:r>
            <a:endParaRPr lang="en-US" sz="1100" dirty="0"/>
          </a:p>
        </p:txBody>
      </p:sp>
      <p:sp>
        <p:nvSpPr>
          <p:cNvPr id="30" name="Row line 3"/>
          <p:cNvSpPr/>
          <p:nvPr/>
        </p:nvSpPr>
        <p:spPr>
          <a:xfrm>
            <a:off x="640080" y="3337560"/>
            <a:ext cx="5212080" cy="9144"/>
          </a:xfrm>
          <a:prstGeom prst="rect">
            <a:avLst/>
          </a:prstGeom>
          <a:solidFill>
            <a:srgbClr val="D7EADF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31" name="Cell 3-0"/>
          <p:cNvSpPr txBox="1"/>
          <p:nvPr/>
        </p:nvSpPr>
        <p:spPr>
          <a:xfrm>
            <a:off x="640080" y="33741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Cell 3-1"/>
          <p:cNvSpPr txBox="1"/>
          <p:nvPr/>
        </p:nvSpPr>
        <p:spPr>
          <a:xfrm>
            <a:off x="1005840" y="337413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Paracetamol</a:t>
            </a:r>
            <a:endParaRPr lang="en-US" sz="1400" dirty="0"/>
          </a:p>
        </p:txBody>
      </p:sp>
      <p:sp>
        <p:nvSpPr>
          <p:cNvPr id="33" name="Cell 3-2"/>
          <p:cNvSpPr txBox="1"/>
          <p:nvPr/>
        </p:nvSpPr>
        <p:spPr>
          <a:xfrm>
            <a:off x="3108960" y="33741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</a:t>
            </a:r>
            <a:endParaRPr lang="en-US" sz="1400" dirty="0"/>
          </a:p>
        </p:txBody>
      </p:sp>
      <p:sp>
        <p:nvSpPr>
          <p:cNvPr id="34" name="Cell 3-3"/>
          <p:cNvSpPr txBox="1"/>
          <p:nvPr/>
        </p:nvSpPr>
        <p:spPr>
          <a:xfrm>
            <a:off x="4297680" y="33741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Storage pill 3"/>
          <p:cNvSpPr/>
          <p:nvPr/>
        </p:nvSpPr>
        <p:spPr>
          <a:xfrm>
            <a:off x="4937760" y="34472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36" name="Storage text 3"/>
          <p:cNvSpPr txBox="1"/>
          <p:nvPr/>
        </p:nvSpPr>
        <p:spPr>
          <a:xfrm>
            <a:off x="4937760" y="34472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temp</a:t>
            </a:r>
            <a:endParaRPr lang="en-US" sz="1100" dirty="0"/>
          </a:p>
        </p:txBody>
      </p:sp>
      <p:sp>
        <p:nvSpPr>
          <p:cNvPr id="37" name="Row line 4"/>
          <p:cNvSpPr/>
          <p:nvPr/>
        </p:nvSpPr>
        <p:spPr>
          <a:xfrm>
            <a:off x="640080" y="3867912"/>
            <a:ext cx="5212080" cy="9144"/>
          </a:xfrm>
          <a:prstGeom prst="rect">
            <a:avLst/>
          </a:prstGeom>
          <a:solidFill>
            <a:srgbClr val="D7EADF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38" name="Cell 4-0"/>
          <p:cNvSpPr txBox="1"/>
          <p:nvPr/>
        </p:nvSpPr>
        <p:spPr>
          <a:xfrm>
            <a:off x="640080" y="39044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Cell 4-1"/>
          <p:cNvSpPr txBox="1"/>
          <p:nvPr/>
        </p:nvSpPr>
        <p:spPr>
          <a:xfrm>
            <a:off x="1005840" y="39044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Oxytocin</a:t>
            </a:r>
            <a:endParaRPr lang="en-US" sz="1400" dirty="0"/>
          </a:p>
        </p:txBody>
      </p:sp>
      <p:sp>
        <p:nvSpPr>
          <p:cNvPr id="40" name="Cell 4-2"/>
          <p:cNvSpPr txBox="1"/>
          <p:nvPr/>
        </p:nvSpPr>
        <p:spPr>
          <a:xfrm>
            <a:off x="3108960" y="39044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</a:t>
            </a:r>
            <a:endParaRPr lang="en-US" sz="1400" dirty="0"/>
          </a:p>
        </p:txBody>
      </p:sp>
      <p:sp>
        <p:nvSpPr>
          <p:cNvPr id="41" name="Cell 4-3"/>
          <p:cNvSpPr txBox="1"/>
          <p:nvPr/>
        </p:nvSpPr>
        <p:spPr>
          <a:xfrm>
            <a:off x="4297680" y="39044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42" name="Storage pill 4"/>
          <p:cNvSpPr/>
          <p:nvPr/>
        </p:nvSpPr>
        <p:spPr>
          <a:xfrm>
            <a:off x="4937760" y="39776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43" name="Storage text 4"/>
          <p:cNvSpPr txBox="1"/>
          <p:nvPr/>
        </p:nvSpPr>
        <p:spPr>
          <a:xfrm>
            <a:off x="4937760" y="3977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temp</a:t>
            </a:r>
            <a:endParaRPr lang="en-US" sz="1100" dirty="0"/>
          </a:p>
        </p:txBody>
      </p:sp>
      <p:sp>
        <p:nvSpPr>
          <p:cNvPr id="44" name="Formula card"/>
          <p:cNvSpPr/>
          <p:nvPr/>
        </p:nvSpPr>
        <p:spPr>
          <a:xfrm>
            <a:off x="6172200" y="128016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45" name="Formula"/>
          <p:cNvSpPr txBox="1"/>
          <p:nvPr/>
        </p:nvSpPr>
        <p:spPr>
          <a:xfrm>
            <a:off x="6309360" y="1371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0.3 × urgency + 0.7 × price</a:t>
            </a:r>
            <a:endParaRPr lang="en-US" sz="1400" dirty="0"/>
          </a:p>
        </p:txBody>
      </p:sp>
      <p:sp>
        <p:nvSpPr>
          <p:cNvPr id="46" name="Formula note"/>
          <p:cNvSpPr txBox="1"/>
          <p:nvPr/>
        </p:nvSpPr>
        <p:spPr>
          <a:xfrm>
            <a:off x="630936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change the weights.</a:t>
            </a:r>
            <a:endParaRPr lang="en-US" sz="1200" dirty="0"/>
          </a:p>
        </p:txBody>
      </p:sp>
      <p:sp>
        <p:nvSpPr>
          <p:cNvPr id="47" name="Medicine points"/>
          <p:cNvSpPr txBox="1"/>
          <p:nvPr/>
        </p:nvSpPr>
        <p:spPr>
          <a:xfrm>
            <a:off x="6172200" y="2834640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names like Insulin, backed by a 500-medicine 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allowed outside the fridge ranks higher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staff to check the label and never says a medicine can be used</a:t>
            </a:r>
            <a:endParaRPr lang="en-US" sz="1400" dirty="0"/>
          </a:p>
        </p:txBody>
      </p:sp>
      <p:sp>
        <p:nvSpPr>
          <p:cNvPr id="48" name="Page number"/>
          <p:cNvSpPr txBox="1"/>
          <p:nvPr/>
        </p:nvSpPr>
        <p:spPr>
          <a:xfrm>
            <a:off x="777240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6" name="Badge text 1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tep head 1"/>
          <p:cNvSpPr txBox="1"/>
          <p:nvPr/>
        </p:nvSpPr>
        <p:spPr>
          <a:xfrm>
            <a:off x="64008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</a:t>
            </a:r>
            <a:endParaRPr lang="en-US" sz="1800" dirty="0"/>
          </a:p>
        </p:txBody>
      </p:sp>
      <p:sp>
        <p:nvSpPr>
          <p:cNvPr id="8" name="Step body 1"/>
          <p:cNvSpPr txBox="1"/>
          <p:nvPr/>
        </p:nvSpPr>
        <p:spPr>
          <a:xfrm>
            <a:off x="640080" y="25603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Generator, fuel, battery and facilities ranked 1, 2, 3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11" name="Badge text 2"/>
          <p:cNvSpPr txBox="1"/>
          <p:nvPr/>
        </p:nvSpPr>
        <p:spPr>
          <a:xfrm>
            <a:off x="2743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tep head 2"/>
          <p:cNvSpPr txBox="1"/>
          <p:nvPr/>
        </p:nvSpPr>
        <p:spPr>
          <a:xfrm>
            <a:off x="27432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800" dirty="0"/>
          </a:p>
        </p:txBody>
      </p:sp>
      <p:sp>
        <p:nvSpPr>
          <p:cNvPr id="13" name="Step body 2"/>
          <p:cNvSpPr txBox="1"/>
          <p:nvPr/>
        </p:nvSpPr>
        <p:spPr>
          <a:xfrm>
            <a:off x="2743200" y="25603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15 minutes, using what you entered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16" name="Badge text 3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tep head 3"/>
          <p:cNvSpPr txBox="1"/>
          <p:nvPr/>
        </p:nvSpPr>
        <p:spPr>
          <a:xfrm>
            <a:off x="48463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800" dirty="0"/>
          </a:p>
        </p:txBody>
      </p:sp>
      <p:sp>
        <p:nvSpPr>
          <p:cNvPr id="18" name="Step body 3"/>
          <p:cNvSpPr txBox="1"/>
          <p:nvPr/>
        </p:nvSpPr>
        <p:spPr>
          <a:xfrm>
            <a:off x="4846320" y="25603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facilities in rank order while the backup covers them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rgbClr val="CDEEDB"/>
          </a:solidFill>
          <a:ln w="12700">
            <a:solidFill>
              <a:srgbClr val="CDEEDB"/>
            </a:solidFill>
            <a:prstDash val="solid"/>
          </a:ln>
        </p:spPr>
      </p:sp>
      <p:sp>
        <p:nvSpPr>
          <p:cNvPr id="21" name="Badge text 4"/>
          <p:cNvSpPr txBox="1"/>
          <p:nvPr/>
        </p:nvSpPr>
        <p:spPr>
          <a:xfrm>
            <a:off x="6949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tep head 4"/>
          <p:cNvSpPr txBox="1"/>
          <p:nvPr/>
        </p:nvSpPr>
        <p:spPr>
          <a:xfrm>
            <a:off x="69494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1800" dirty="0"/>
          </a:p>
        </p:txBody>
      </p:sp>
      <p:sp>
        <p:nvSpPr>
          <p:cNvPr id="23" name="Step body 4"/>
          <p:cNvSpPr txBox="1"/>
          <p:nvPr/>
        </p:nvSpPr>
        <p:spPr>
          <a:xfrm>
            <a:off x="6949440" y="25603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Medicines at risk and a weather-based power-cut chance</a:t>
            </a:r>
            <a:endParaRPr lang="en-US" sz="1400" dirty="0"/>
          </a:p>
        </p:txBody>
      </p:sp>
      <p:sp>
        <p:nvSpPr>
          <p:cNvPr id="24" name="Tech line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HTML, CSS and JavaScript. Works offline and installs like an app. 17 automated tests check the maths.</a:t>
            </a:r>
            <a:endParaRPr lang="en-US" sz="1400" dirty="0"/>
          </a:p>
        </p:txBody>
      </p:sp>
      <p:sp>
        <p:nvSpPr>
          <p:cNvPr id="25" name="Page number"/>
          <p:cNvSpPr txBox="1"/>
          <p:nvPr/>
        </p:nvSpPr>
        <p:spPr>
          <a:xfrm>
            <a:off x="777240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  <p:transition spd="med">
    <p:split orient="vert" dir="ou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 and next steps</a:t>
            </a:r>
            <a:endParaRPr lang="en-US" sz="3000" dirty="0"/>
          </a:p>
        </p:txBody>
      </p:sp>
      <p:sp>
        <p:nvSpPr>
          <p:cNvPr id="4" name="Column Still an estimate"/>
          <p:cNvSpPr/>
          <p:nvPr/>
        </p:nvSpPr>
        <p:spPr>
          <a:xfrm>
            <a:off x="457200" y="128016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5" name="Column title 0"/>
          <p:cNvSpPr txBox="1"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4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an estimate</a:t>
            </a:r>
            <a:endParaRPr lang="en-US" sz="1600" dirty="0"/>
          </a:p>
        </p:txBody>
      </p:sp>
      <p:sp>
        <p:nvSpPr>
          <p:cNvPr id="6" name="Column list 0"/>
          <p:cNvSpPr txBox="1"/>
          <p:nvPr/>
        </p:nvSpPr>
        <p:spPr>
          <a:xfrm>
            <a:off x="685800" y="18745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battery is never recharged in the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fridge hold time is an assumption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power-cut chance comes from the weather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checked with a clinician or engineer</a:t>
            </a:r>
            <a:endParaRPr lang="en-US" sz="1400" dirty="0"/>
          </a:p>
        </p:txBody>
      </p:sp>
      <p:sp>
        <p:nvSpPr>
          <p:cNvPr id="7" name="Column What we would do next"/>
          <p:cNvSpPr/>
          <p:nvPr/>
        </p:nvSpPr>
        <p:spPr>
          <a:xfrm>
            <a:off x="4663440" y="128016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F3FAF6"/>
          </a:solidFill>
          <a:ln w="12700">
            <a:solidFill>
              <a:srgbClr val="D7EADF"/>
            </a:solidFill>
            <a:prstDash val="solid"/>
          </a:ln>
        </p:spPr>
      </p:sp>
      <p:sp>
        <p:nvSpPr>
          <p:cNvPr id="8" name="Column title 1"/>
          <p:cNvSpPr txBox="1"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7A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do next</a:t>
            </a:r>
            <a:endParaRPr lang="en-US" sz="1600" dirty="0"/>
          </a:p>
        </p:txBody>
      </p:sp>
      <p:sp>
        <p:nvSpPr>
          <p:cNvPr id="9" name="Column list 1"/>
          <p:cNvSpPr txBox="1"/>
          <p:nvPr/>
        </p:nvSpPr>
        <p:spPr>
          <a:xfrm>
            <a:off x="4892040" y="18745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real meter readings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medicine data with a pharmacist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alerts to staff phones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one clinic</a:t>
            </a:r>
            <a:endParaRPr lang="en-US" sz="1400" dirty="0"/>
          </a:p>
        </p:txBody>
      </p:sp>
      <p:sp>
        <p:nvSpPr>
          <p:cNvPr id="10" name="Thanks"/>
          <p:cNvSpPr txBox="1"/>
          <p:nvPr/>
        </p:nvSpPr>
        <p:spPr>
          <a:xfrm>
            <a:off x="45720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Questions?</a:t>
            </a:r>
            <a:endParaRPr lang="en-US" sz="2400" dirty="0"/>
          </a:p>
        </p:txBody>
      </p:sp>
      <p:sp>
        <p:nvSpPr>
          <p:cNvPr id="11" name="Page number"/>
          <p:cNvSpPr txBox="1"/>
          <p:nvPr/>
        </p:nvSpPr>
        <p:spPr>
          <a:xfrm>
            <a:off x="777240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7A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Surge: power-outage planner for hospitals and clinics</dc:title>
  <dc:subject>PptxGenJS Presentation</dc:subject>
  <dc:creator>Team Surge</dc:creator>
  <cp:lastModifiedBy>Team Surge</cp:lastModifiedBy>
  <cp:revision>1</cp:revision>
  <dcterms:created xsi:type="dcterms:W3CDTF">2026-10-10T08:55:52Z</dcterms:created>
  <dcterms:modified xsi:type="dcterms:W3CDTF">2026-10-10T08:55:52Z</dcterms:modified>
</cp:coreProperties>
</file>